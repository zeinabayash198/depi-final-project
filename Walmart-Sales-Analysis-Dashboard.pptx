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embeddedFontLst>
    <p:embeddedFont>
      <p:font typeface="DM Sans" pitchFamily="2" charset="0"/>
      <p:regular r:id="rId16"/>
      <p:bold r:id="rId17"/>
    </p:embeddedFont>
    <p:embeddedFont>
      <p:font typeface="Libre Baskerville" panose="02000000000000000000" pitchFamily="2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28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612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Walmart Sales Analysis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9469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Analysis &amp; Business Insights — Powered by </a:t>
            </a: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0978"/>
            <a:ext cx="2409676" cy="266402"/>
          </a:xfrm>
          <a:prstGeom prst="roundRect">
            <a:avLst>
              <a:gd name="adj" fmla="val 63859"/>
            </a:avLst>
          </a:prstGeom>
          <a:solidFill>
            <a:srgbClr val="483304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23468"/>
            <a:ext cx="269676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BY: KEROLOUS · VERINA · ZEINAB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06375"/>
            <a:ext cx="344760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Agenda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65162" y="981968"/>
            <a:ext cx="867087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structured walkthrough from raw data to actionable business recommendations.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65162" y="1271811"/>
            <a:ext cx="6963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65162" y="1460748"/>
            <a:ext cx="4056385" cy="14288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6" name="Text 4"/>
          <p:cNvSpPr/>
          <p:nvPr/>
        </p:nvSpPr>
        <p:spPr>
          <a:xfrm>
            <a:off x="465162" y="1549078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5162" y="1796430"/>
            <a:ext cx="451358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Goals, scope, and analytical approach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22453" y="1271811"/>
            <a:ext cx="6963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22453" y="1460748"/>
            <a:ext cx="4056385" cy="14288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10" name="Text 8"/>
          <p:cNvSpPr/>
          <p:nvPr/>
        </p:nvSpPr>
        <p:spPr>
          <a:xfrm>
            <a:off x="4622453" y="1549078"/>
            <a:ext cx="196058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Description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22453" y="1796430"/>
            <a:ext cx="451358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Variables, time span, and data structure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5162" y="2163366"/>
            <a:ext cx="6963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5162" y="2352303"/>
            <a:ext cx="4056385" cy="14288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14" name="Text 12"/>
          <p:cNvSpPr/>
          <p:nvPr/>
        </p:nvSpPr>
        <p:spPr>
          <a:xfrm>
            <a:off x="465162" y="2440632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5162" y="2687985"/>
            <a:ext cx="451358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Quality checks and transformations applied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22453" y="2163366"/>
            <a:ext cx="6963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2453" y="2352303"/>
            <a:ext cx="4056385" cy="14288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18" name="Text 16"/>
          <p:cNvSpPr/>
          <p:nvPr/>
        </p:nvSpPr>
        <p:spPr>
          <a:xfrm>
            <a:off x="4622453" y="2440632"/>
            <a:ext cx="195612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Analysis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22453" y="2687985"/>
            <a:ext cx="451358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High-level KPIs and trend visualization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5162" y="3054921"/>
            <a:ext cx="6963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5162" y="3243858"/>
            <a:ext cx="4056385" cy="14288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22" name="Text 20"/>
          <p:cNvSpPr/>
          <p:nvPr/>
        </p:nvSpPr>
        <p:spPr>
          <a:xfrm>
            <a:off x="465162" y="3332187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Store Analysis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5162" y="3579540"/>
            <a:ext cx="451358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Performance comparison across 45 locations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22453" y="3054921"/>
            <a:ext cx="6963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22453" y="3243858"/>
            <a:ext cx="4056385" cy="14288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26" name="Text 24"/>
          <p:cNvSpPr/>
          <p:nvPr/>
        </p:nvSpPr>
        <p:spPr>
          <a:xfrm>
            <a:off x="4622453" y="3332187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External Factors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22453" y="3579540"/>
            <a:ext cx="451358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Economic and environmental variable impact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5162" y="3946475"/>
            <a:ext cx="6963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5162" y="4135413"/>
            <a:ext cx="4056385" cy="14288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30" name="Text 28"/>
          <p:cNvSpPr/>
          <p:nvPr/>
        </p:nvSpPr>
        <p:spPr>
          <a:xfrm>
            <a:off x="465162" y="4223742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Holiday Analysis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5162" y="4471095"/>
            <a:ext cx="451358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Seasonal uplift and key holiday periods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22453" y="3946475"/>
            <a:ext cx="6963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22453" y="4135413"/>
            <a:ext cx="4056385" cy="14288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34" name="Text 32"/>
          <p:cNvSpPr/>
          <p:nvPr/>
        </p:nvSpPr>
        <p:spPr>
          <a:xfrm>
            <a:off x="4622453" y="4223742"/>
            <a:ext cx="305417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Insights &amp; Recommendations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622453" y="4471095"/>
            <a:ext cx="451358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Findings and strategic action items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17128"/>
            <a:ext cx="346970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25119" y="1247254"/>
            <a:ext cx="472276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analyzes Walmart's weekly sales data across 45 stores to surface actionable insights for strategic decision-making.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25119" y="1719039"/>
            <a:ext cx="2310185" cy="1569913"/>
          </a:xfrm>
          <a:prstGeom prst="roundRect">
            <a:avLst>
              <a:gd name="adj" fmla="val 11514"/>
            </a:avLst>
          </a:prstGeom>
          <a:solidFill>
            <a:srgbClr val="1F1F4D"/>
          </a:solidFill>
          <a:ln w="4763">
            <a:solidFill>
              <a:srgbClr val="383866"/>
            </a:solidFill>
            <a:prstDash val="solid"/>
          </a:ln>
          <a:effectLst>
            <a:outerShdw dist="1524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050357" y="1844278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Goal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050357" y="2093937"/>
            <a:ext cx="20597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 performance trends, seasonal patterns, and the impact of economic factors on weekly revenue across all store locations.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337697" y="1719039"/>
            <a:ext cx="2310185" cy="1569913"/>
          </a:xfrm>
          <a:prstGeom prst="roundRect">
            <a:avLst>
              <a:gd name="adj" fmla="val 11514"/>
            </a:avLst>
          </a:prstGeom>
          <a:solidFill>
            <a:srgbClr val="1F1F4D"/>
          </a:solidFill>
          <a:ln w="4763">
            <a:solidFill>
              <a:srgbClr val="383866"/>
            </a:solidFill>
            <a:prstDash val="solid"/>
          </a:ln>
          <a:effectLst>
            <a:outerShdw dist="1524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62936" y="1844278"/>
            <a:ext cx="1987153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Sales Analysis?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62936" y="2093937"/>
            <a:ext cx="2059707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sales dynamics enables smarter inventory management, targeted promotions, and strategic resource allocation — turning raw data into competitive advantage.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25119" y="3391346"/>
            <a:ext cx="4722763" cy="1035025"/>
          </a:xfrm>
          <a:prstGeom prst="roundRect">
            <a:avLst>
              <a:gd name="adj" fmla="val 17464"/>
            </a:avLst>
          </a:prstGeom>
          <a:solidFill>
            <a:srgbClr val="1F1F4D"/>
          </a:solidFill>
          <a:ln w="4763">
            <a:solidFill>
              <a:srgbClr val="383866"/>
            </a:solidFill>
            <a:prstDash val="solid"/>
          </a:ln>
          <a:effectLst>
            <a:outerShdw dist="1524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050357" y="3516585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Value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050357" y="3766245"/>
            <a:ext cx="4472285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Power BI dashboards provide real-time visibility, allowing decision-makers to drill into KPIs, compare stores, and respond proactively to market shifts.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25723"/>
            <a:ext cx="3046884" cy="321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Description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80640" y="897210"/>
            <a:ext cx="818271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Walmart dataset contains historical weekly sales data for </a:t>
            </a:r>
            <a:r>
              <a:rPr lang="en-US" sz="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 stores</a:t>
            </a: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multiple departments, spanning </a:t>
            </a:r>
            <a:r>
              <a:rPr lang="en-US" sz="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2010–2012</a:t>
            </a: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It includes economic and environmental variables to support deeper analysis.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53" y="1349946"/>
            <a:ext cx="4581600" cy="32836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67413" y="1379488"/>
            <a:ext cx="1744712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Variables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967413" y="1624533"/>
            <a:ext cx="2700635" cy="2970088"/>
          </a:xfrm>
          <a:prstGeom prst="roundRect">
            <a:avLst>
              <a:gd name="adj" fmla="val 572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75164" y="1678930"/>
            <a:ext cx="1594396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Weekly Sales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23100" y="1678930"/>
            <a:ext cx="11371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revenue per week per store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075164" y="2067371"/>
            <a:ext cx="1594396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423100" y="2067371"/>
            <a:ext cx="1594396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 identifier (1–45)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075164" y="2313608"/>
            <a:ext cx="1594396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423100" y="2313608"/>
            <a:ext cx="11371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 start date of sales period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075164" y="2702049"/>
            <a:ext cx="1594396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Holiday Flag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423100" y="2702049"/>
            <a:ext cx="11371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Marks holiday weeks (0 or 1)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75164" y="3090490"/>
            <a:ext cx="1594396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Temperature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423100" y="3090490"/>
            <a:ext cx="11371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regional temperature (°F)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75164" y="3478932"/>
            <a:ext cx="1594396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Fuel Price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423100" y="3478932"/>
            <a:ext cx="11371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 of fuel in the local region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075164" y="3867373"/>
            <a:ext cx="1594396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CPI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423100" y="3867373"/>
            <a:ext cx="11371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Consumer Price Index — inflation indicator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075164" y="4255815"/>
            <a:ext cx="1594396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Unemployment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423100" y="4255815"/>
            <a:ext cx="11371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Regional unemployment rate (%)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2643"/>
            <a:ext cx="346293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Cleaning Process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394371"/>
            <a:ext cx="86089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Five systematic steps were applied in </a:t>
            </a:r>
            <a:r>
              <a:rPr lang="en-US" sz="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Query Editor</a:t>
            </a: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ensure data integrity and analytical readiness.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99" y="1632868"/>
            <a:ext cx="5918002" cy="222066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0298" y="2202816"/>
            <a:ext cx="303247" cy="30324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94654" y="3228472"/>
            <a:ext cx="892595" cy="343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Ensure Consistency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0132" y="2203384"/>
            <a:ext cx="303247" cy="30324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69740" y="3228472"/>
            <a:ext cx="892595" cy="343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Create Date Columns</a:t>
            </a:r>
            <a:endParaRPr lang="en-US" sz="10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30251" y="2203384"/>
            <a:ext cx="303246" cy="30324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150940" y="3228472"/>
            <a:ext cx="892595" cy="343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Convert Data Types</a:t>
            </a:r>
            <a:endParaRPr lang="en-US" sz="10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0369" y="2203384"/>
            <a:ext cx="303246" cy="30324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032139" y="3142499"/>
            <a:ext cx="892595" cy="51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Check Missing Values</a:t>
            </a:r>
            <a:endParaRPr lang="en-US" sz="10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04423" y="2203384"/>
            <a:ext cx="303246" cy="30324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888884" y="3228472"/>
            <a:ext cx="892595" cy="343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Remove Duplicates</a:t>
            </a:r>
            <a:endParaRPr lang="en-US" sz="1050" dirty="0"/>
          </a:p>
        </p:txBody>
      </p:sp>
      <p:sp>
        <p:nvSpPr>
          <p:cNvPr id="15" name="Text 7"/>
          <p:cNvSpPr/>
          <p:nvPr/>
        </p:nvSpPr>
        <p:spPr>
          <a:xfrm>
            <a:off x="496119" y="3943201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transformations were performed in Power Query. Date fields were converted to DateTime format, numeric fields (Sales, CPI, Fuel) were correctly typed, and Year/Month columns were extracted to enable time-based trend filtering. No significant null values were found across the dataset.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6902"/>
            <a:ext cx="4145831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OVERVIEW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496119" y="948630"/>
            <a:ext cx="4035996" cy="877119"/>
          </a:xfrm>
          <a:prstGeom prst="roundRect">
            <a:avLst>
              <a:gd name="adj" fmla="val 18183"/>
            </a:avLst>
          </a:prstGeom>
          <a:solidFill>
            <a:srgbClr val="1A56A5"/>
          </a:solidFill>
          <a:ln w="4763">
            <a:solidFill>
              <a:srgbClr val="336FBE"/>
            </a:solidFill>
            <a:prstDash val="solid"/>
          </a:ln>
          <a:effectLst>
            <a:outerShdw dist="13970" dir="2700000" algn="bl" rotWithShape="0">
              <a:srgbClr val="336FBE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07144" y="1059656"/>
            <a:ext cx="4125367" cy="4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$6.7B+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07144" y="1565895"/>
            <a:ext cx="427114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Sales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611812" y="948630"/>
            <a:ext cx="4036070" cy="877119"/>
          </a:xfrm>
          <a:prstGeom prst="roundRect">
            <a:avLst>
              <a:gd name="adj" fmla="val 18183"/>
            </a:avLst>
          </a:prstGeom>
          <a:solidFill>
            <a:srgbClr val="3A82C4"/>
          </a:solidFill>
          <a:ln w="4763">
            <a:solidFill>
              <a:srgbClr val="539BDD"/>
            </a:solidFill>
            <a:prstDash val="solid"/>
          </a:ln>
          <a:effectLst>
            <a:outerShdw dist="13970" dir="2700000" algn="bl" rotWithShape="0">
              <a:srgbClr val="539BDD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22837" y="1059656"/>
            <a:ext cx="4125367" cy="4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$1.05M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4722837" y="1565895"/>
            <a:ext cx="4271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Weekly Sales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6119" y="1905446"/>
            <a:ext cx="4035996" cy="877119"/>
          </a:xfrm>
          <a:prstGeom prst="roundRect">
            <a:avLst>
              <a:gd name="adj" fmla="val 18183"/>
            </a:avLst>
          </a:prstGeom>
          <a:solidFill>
            <a:srgbClr val="F47B20"/>
          </a:solidFill>
          <a:ln w="4763">
            <a:solidFill>
              <a:srgbClr val="DA6106"/>
            </a:solidFill>
            <a:prstDash val="solid"/>
          </a:ln>
          <a:effectLst>
            <a:outerShdw dist="13970" dir="2700000" algn="bl" rotWithShape="0">
              <a:srgbClr val="DA6106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7144" y="2016472"/>
            <a:ext cx="4125367" cy="4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07144" y="2522711"/>
            <a:ext cx="427114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Stores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11812" y="1905446"/>
            <a:ext cx="4036070" cy="877119"/>
          </a:xfrm>
          <a:prstGeom prst="roundRect">
            <a:avLst>
              <a:gd name="adj" fmla="val 18183"/>
            </a:avLst>
          </a:prstGeom>
          <a:solidFill>
            <a:srgbClr val="1E8A50"/>
          </a:solidFill>
          <a:ln w="4763">
            <a:solidFill>
              <a:srgbClr val="37A369"/>
            </a:solidFill>
            <a:prstDash val="solid"/>
          </a:ln>
          <a:effectLst>
            <a:outerShdw dist="13970" dir="2700000" algn="bl" rotWithShape="0">
              <a:srgbClr val="37A369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22837" y="2016472"/>
            <a:ext cx="4125367" cy="4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+3.2%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4722837" y="2522711"/>
            <a:ext cx="4271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Monthly Growth Rate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6119" y="2951931"/>
            <a:ext cx="2242765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Highlights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6119" y="3230910"/>
            <a:ext cx="3946178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Monthly and yearly sales trend lines visualize growth patterns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slicers allow filtering by store, year, and holiday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Year-over-Year performance tracked across 2010–2012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Top-level KPI cards provide instant performance snapshot</a:t>
            </a:r>
            <a:endParaRPr lang="en-US" sz="8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466" y="2961903"/>
            <a:ext cx="4036070" cy="16350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STORE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982266"/>
            <a:ext cx="3937546" cy="849809"/>
          </a:xfrm>
          <a:prstGeom prst="roundRect">
            <a:avLst>
              <a:gd name="adj" fmla="val 8070"/>
            </a:avLst>
          </a:prstGeom>
          <a:solidFill>
            <a:srgbClr val="00002E"/>
          </a:solidFill>
          <a:ln w="14288">
            <a:solidFill>
              <a:srgbClr val="383866"/>
            </a:solidFill>
            <a:prstDash val="solid"/>
          </a:ln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81831" y="982266"/>
            <a:ext cx="57150" cy="849809"/>
          </a:xfrm>
          <a:prstGeom prst="roundRect">
            <a:avLst>
              <a:gd name="adj" fmla="val 297674"/>
            </a:avLst>
          </a:prstGeom>
          <a:solidFill>
            <a:srgbClr val="F2B42D"/>
          </a:solidFill>
          <a:ln/>
        </p:spPr>
      </p:sp>
      <p:sp>
        <p:nvSpPr>
          <p:cNvPr id="5" name="Text 3"/>
          <p:cNvSpPr/>
          <p:nvPr/>
        </p:nvSpPr>
        <p:spPr>
          <a:xfrm>
            <a:off x="666676" y="1109960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Performer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6676" y="1377851"/>
            <a:ext cx="3639294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 20 recorded the highest cumulative sales, consistently outperforming all other locations.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96119" y="1922785"/>
            <a:ext cx="3937546" cy="849809"/>
          </a:xfrm>
          <a:prstGeom prst="roundRect">
            <a:avLst>
              <a:gd name="adj" fmla="val 8070"/>
            </a:avLst>
          </a:prstGeom>
          <a:solidFill>
            <a:srgbClr val="00002E"/>
          </a:solidFill>
          <a:ln w="14288">
            <a:solidFill>
              <a:srgbClr val="383866"/>
            </a:solidFill>
            <a:prstDash val="solid"/>
          </a:ln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1831" y="1922785"/>
            <a:ext cx="57150" cy="849809"/>
          </a:xfrm>
          <a:prstGeom prst="roundRect">
            <a:avLst>
              <a:gd name="adj" fmla="val 297674"/>
            </a:avLst>
          </a:prstGeom>
          <a:solidFill>
            <a:srgbClr val="F2B42D"/>
          </a:solidFill>
          <a:ln/>
        </p:spPr>
      </p:sp>
      <p:sp>
        <p:nvSpPr>
          <p:cNvPr id="9" name="Text 7"/>
          <p:cNvSpPr/>
          <p:nvPr/>
        </p:nvSpPr>
        <p:spPr>
          <a:xfrm>
            <a:off x="666676" y="2050479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Stores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6676" y="2318370"/>
            <a:ext cx="3639294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 unique store locations were analyzed, ranging from small-format to large-format retail outlets.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6119" y="2863304"/>
            <a:ext cx="3937546" cy="849809"/>
          </a:xfrm>
          <a:prstGeom prst="roundRect">
            <a:avLst>
              <a:gd name="adj" fmla="val 8070"/>
            </a:avLst>
          </a:prstGeom>
          <a:solidFill>
            <a:srgbClr val="00002E"/>
          </a:solidFill>
          <a:ln w="14288">
            <a:solidFill>
              <a:srgbClr val="383866"/>
            </a:solidFill>
            <a:prstDash val="solid"/>
          </a:ln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31" y="2863304"/>
            <a:ext cx="57150" cy="849809"/>
          </a:xfrm>
          <a:prstGeom prst="roundRect">
            <a:avLst>
              <a:gd name="adj" fmla="val 297674"/>
            </a:avLst>
          </a:prstGeom>
          <a:solidFill>
            <a:srgbClr val="F2B42D"/>
          </a:solidFill>
          <a:ln/>
        </p:spPr>
      </p:sp>
      <p:sp>
        <p:nvSpPr>
          <p:cNvPr id="13" name="Text 11"/>
          <p:cNvSpPr/>
          <p:nvPr/>
        </p:nvSpPr>
        <p:spPr>
          <a:xfrm>
            <a:off x="666676" y="2990999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Sales/Store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6676" y="3258889"/>
            <a:ext cx="3639294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weekly sales per store showed significant variance, indicating disparity in store performance.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6119" y="3803824"/>
            <a:ext cx="3937546" cy="849809"/>
          </a:xfrm>
          <a:prstGeom prst="roundRect">
            <a:avLst>
              <a:gd name="adj" fmla="val 8070"/>
            </a:avLst>
          </a:prstGeom>
          <a:solidFill>
            <a:srgbClr val="00002E"/>
          </a:solidFill>
          <a:ln w="14288">
            <a:solidFill>
              <a:srgbClr val="383866"/>
            </a:solidFill>
            <a:prstDash val="solid"/>
          </a:ln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1831" y="3803824"/>
            <a:ext cx="57150" cy="849809"/>
          </a:xfrm>
          <a:prstGeom prst="roundRect">
            <a:avLst>
              <a:gd name="adj" fmla="val 297674"/>
            </a:avLst>
          </a:prstGeom>
          <a:solidFill>
            <a:srgbClr val="F2B42D"/>
          </a:solidFill>
          <a:ln/>
        </p:spPr>
      </p:sp>
      <p:sp>
        <p:nvSpPr>
          <p:cNvPr id="17" name="Text 15"/>
          <p:cNvSpPr/>
          <p:nvPr/>
        </p:nvSpPr>
        <p:spPr>
          <a:xfrm>
            <a:off x="666676" y="3931518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Lowest Stores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6676" y="4199409"/>
            <a:ext cx="3639294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Several stores consistently ranked in the bottom tier, presenting clear improvement opportunities.</a:t>
            </a:r>
            <a:endParaRPr lang="en-US" sz="8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823" y="982266"/>
            <a:ext cx="3150022" cy="36713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331" y="335384"/>
            <a:ext cx="3430935" cy="211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EXTERNAL FACTORS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4331" y="559668"/>
            <a:ext cx="3269382" cy="126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Economic &amp; Environmental Variables vs. Weekly Sales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31" y="771302"/>
            <a:ext cx="430709" cy="4307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4331" y="1238324"/>
            <a:ext cx="1303065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Temperature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64331" y="1380381"/>
            <a:ext cx="496342" cy="104477"/>
          </a:xfrm>
          <a:prstGeom prst="roundRect">
            <a:avLst>
              <a:gd name="adj" fmla="val 77726"/>
            </a:avLst>
          </a:prstGeom>
          <a:solidFill>
            <a:srgbClr val="483304"/>
          </a:solidFill>
          <a:ln/>
        </p:spPr>
      </p:sp>
      <p:sp>
        <p:nvSpPr>
          <p:cNvPr id="7" name="Text 4"/>
          <p:cNvSpPr/>
          <p:nvPr/>
        </p:nvSpPr>
        <p:spPr>
          <a:xfrm>
            <a:off x="404887" y="1400621"/>
            <a:ext cx="872430" cy="63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WEAK NEGATIVE</a:t>
            </a:r>
            <a:endParaRPr lang="en-US" sz="400" dirty="0"/>
          </a:p>
        </p:txBody>
      </p:sp>
      <p:sp>
        <p:nvSpPr>
          <p:cNvPr id="8" name="Text 5"/>
          <p:cNvSpPr/>
          <p:nvPr/>
        </p:nvSpPr>
        <p:spPr>
          <a:xfrm>
            <a:off x="364331" y="1521172"/>
            <a:ext cx="4582344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Slight sales decline in extreme heat/cold periods; minimal overall impact on revenue.</a:t>
            </a:r>
            <a:endParaRPr lang="en-US" sz="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016" y="1637407"/>
            <a:ext cx="2313459" cy="1316808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288" y="771302"/>
            <a:ext cx="393725" cy="3937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59288" y="1201341"/>
            <a:ext cx="1303065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CPI</a:t>
            </a:r>
            <a:endParaRPr lang="en-US" sz="650" dirty="0"/>
          </a:p>
        </p:txBody>
      </p:sp>
      <p:sp>
        <p:nvSpPr>
          <p:cNvPr id="12" name="Shape 7"/>
          <p:cNvSpPr/>
          <p:nvPr/>
        </p:nvSpPr>
        <p:spPr>
          <a:xfrm>
            <a:off x="4659288" y="1343397"/>
            <a:ext cx="360983" cy="104477"/>
          </a:xfrm>
          <a:prstGeom prst="roundRect">
            <a:avLst>
              <a:gd name="adj" fmla="val 77726"/>
            </a:avLst>
          </a:prstGeom>
          <a:solidFill>
            <a:srgbClr val="483304"/>
          </a:solidFill>
          <a:ln/>
        </p:spPr>
      </p:sp>
      <p:sp>
        <p:nvSpPr>
          <p:cNvPr id="13" name="Text 8"/>
          <p:cNvSpPr/>
          <p:nvPr/>
        </p:nvSpPr>
        <p:spPr>
          <a:xfrm>
            <a:off x="4699843" y="1363638"/>
            <a:ext cx="737071" cy="63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MODERATE</a:t>
            </a:r>
            <a:endParaRPr lang="en-US" sz="400" dirty="0"/>
          </a:p>
        </p:txBody>
      </p:sp>
      <p:sp>
        <p:nvSpPr>
          <p:cNvPr id="14" name="Text 9"/>
          <p:cNvSpPr/>
          <p:nvPr/>
        </p:nvSpPr>
        <p:spPr>
          <a:xfrm>
            <a:off x="4659288" y="1484188"/>
            <a:ext cx="4484712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Consumer Price Index shows a moderate relationship — inflation influences purchasing behavior.</a:t>
            </a:r>
            <a:endParaRPr lang="en-US" sz="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9764" y="1600423"/>
            <a:ext cx="2334667" cy="1387004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690" y="2801317"/>
            <a:ext cx="387623" cy="38762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64331" y="3199061"/>
            <a:ext cx="1303065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Fuel Price</a:t>
            </a:r>
            <a:endParaRPr lang="en-US" sz="650" dirty="0"/>
          </a:p>
        </p:txBody>
      </p:sp>
      <p:sp>
        <p:nvSpPr>
          <p:cNvPr id="18" name="Shape 11"/>
          <p:cNvSpPr/>
          <p:nvPr/>
        </p:nvSpPr>
        <p:spPr>
          <a:xfrm>
            <a:off x="364331" y="3341117"/>
            <a:ext cx="496342" cy="104477"/>
          </a:xfrm>
          <a:prstGeom prst="roundRect">
            <a:avLst>
              <a:gd name="adj" fmla="val 77726"/>
            </a:avLst>
          </a:prstGeom>
          <a:solidFill>
            <a:srgbClr val="483304"/>
          </a:solidFill>
          <a:ln/>
        </p:spPr>
      </p:sp>
      <p:sp>
        <p:nvSpPr>
          <p:cNvPr id="19" name="Text 12"/>
          <p:cNvSpPr/>
          <p:nvPr/>
        </p:nvSpPr>
        <p:spPr>
          <a:xfrm>
            <a:off x="404887" y="3361358"/>
            <a:ext cx="872430" cy="63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WEAK NEGATIVE</a:t>
            </a:r>
            <a:endParaRPr lang="en-US" sz="400" dirty="0"/>
          </a:p>
        </p:txBody>
      </p:sp>
      <p:sp>
        <p:nvSpPr>
          <p:cNvPr id="20" name="Text 13"/>
          <p:cNvSpPr/>
          <p:nvPr/>
        </p:nvSpPr>
        <p:spPr>
          <a:xfrm>
            <a:off x="364331" y="3481908"/>
            <a:ext cx="4582344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Higher fuel prices marginally reduce consumer spending; correlation is not statistically strong.</a:t>
            </a:r>
            <a:endParaRPr lang="en-US" sz="5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8283" y="3598143"/>
            <a:ext cx="2271192" cy="1438091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9288" y="2775124"/>
            <a:ext cx="344537" cy="344537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659288" y="3155975"/>
            <a:ext cx="1303065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Unemployment</a:t>
            </a:r>
            <a:endParaRPr lang="en-US" sz="650" dirty="0"/>
          </a:p>
        </p:txBody>
      </p:sp>
      <p:sp>
        <p:nvSpPr>
          <p:cNvPr id="24" name="Shape 15"/>
          <p:cNvSpPr/>
          <p:nvPr/>
        </p:nvSpPr>
        <p:spPr>
          <a:xfrm>
            <a:off x="4659288" y="3298031"/>
            <a:ext cx="496342" cy="104477"/>
          </a:xfrm>
          <a:prstGeom prst="roundRect">
            <a:avLst>
              <a:gd name="adj" fmla="val 77726"/>
            </a:avLst>
          </a:prstGeom>
          <a:solidFill>
            <a:srgbClr val="483304"/>
          </a:solidFill>
          <a:ln/>
        </p:spPr>
      </p:sp>
      <p:sp>
        <p:nvSpPr>
          <p:cNvPr id="25" name="Text 16"/>
          <p:cNvSpPr/>
          <p:nvPr/>
        </p:nvSpPr>
        <p:spPr>
          <a:xfrm>
            <a:off x="4699843" y="3318272"/>
            <a:ext cx="872430" cy="63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WEAK NEGATIVE</a:t>
            </a:r>
            <a:endParaRPr lang="en-US" sz="400" dirty="0"/>
          </a:p>
        </p:txBody>
      </p:sp>
      <p:sp>
        <p:nvSpPr>
          <p:cNvPr id="26" name="Text 17"/>
          <p:cNvSpPr/>
          <p:nvPr/>
        </p:nvSpPr>
        <p:spPr>
          <a:xfrm>
            <a:off x="4659288" y="3438823"/>
            <a:ext cx="4484712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Higher unemployment associates with slightly lower sales; customers adjust discretionary spending.</a:t>
            </a:r>
            <a:endParaRPr lang="en-US" sz="5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9381" y="3555057"/>
            <a:ext cx="2305050" cy="150852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35731" y="4728121"/>
            <a:ext cx="8643938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endParaRPr lang="en-US" sz="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3396" y="889471"/>
            <a:ext cx="5288607" cy="427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HOLIDAY SALES ANALYSIS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24681" y="1421606"/>
            <a:ext cx="2698477" cy="899294"/>
          </a:xfrm>
          <a:prstGeom prst="roundRect">
            <a:avLst>
              <a:gd name="adj" fmla="val 26484"/>
            </a:avLst>
          </a:prstGeom>
          <a:solidFill>
            <a:srgbClr val="F47B20"/>
          </a:solidFill>
          <a:ln/>
        </p:spPr>
      </p:sp>
      <p:sp>
        <p:nvSpPr>
          <p:cNvPr id="4" name="Text 2"/>
          <p:cNvSpPr/>
          <p:nvPr/>
        </p:nvSpPr>
        <p:spPr>
          <a:xfrm>
            <a:off x="295275" y="1491035"/>
            <a:ext cx="2728689" cy="427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~7%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523875" y="1988418"/>
            <a:ext cx="2500089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Sales Uplift</a:t>
            </a:r>
            <a:endParaRPr lang="en-US" sz="750" dirty="0"/>
          </a:p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During Holidays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27040" y="1421606"/>
            <a:ext cx="2698477" cy="899294"/>
          </a:xfrm>
          <a:prstGeom prst="roundRect">
            <a:avLst>
              <a:gd name="adj" fmla="val 26484"/>
            </a:avLst>
          </a:prstGeom>
          <a:solidFill>
            <a:srgbClr val="1A56A5"/>
          </a:solidFill>
          <a:ln/>
        </p:spPr>
      </p:sp>
      <p:sp>
        <p:nvSpPr>
          <p:cNvPr id="7" name="Text 5"/>
          <p:cNvSpPr/>
          <p:nvPr/>
        </p:nvSpPr>
        <p:spPr>
          <a:xfrm>
            <a:off x="3097634" y="1491035"/>
            <a:ext cx="2728689" cy="427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3326234" y="1988418"/>
            <a:ext cx="2500089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Major Holiday</a:t>
            </a:r>
            <a:endParaRPr lang="en-US" sz="750" dirty="0"/>
          </a:p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Periods Analyzed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029399" y="1421606"/>
            <a:ext cx="2698477" cy="899294"/>
          </a:xfrm>
          <a:prstGeom prst="roundRect">
            <a:avLst>
              <a:gd name="adj" fmla="val 26484"/>
            </a:avLst>
          </a:prstGeom>
          <a:solidFill>
            <a:srgbClr val="1A56A5"/>
          </a:solidFill>
          <a:ln/>
        </p:spPr>
      </p:sp>
      <p:sp>
        <p:nvSpPr>
          <p:cNvPr id="10" name="Text 8"/>
          <p:cNvSpPr/>
          <p:nvPr/>
        </p:nvSpPr>
        <p:spPr>
          <a:xfrm>
            <a:off x="5899993" y="1491035"/>
            <a:ext cx="2728689" cy="427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 Yrs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6128593" y="1988418"/>
            <a:ext cx="2500089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Historical Data</a:t>
            </a:r>
            <a:endParaRPr lang="en-US" sz="750" dirty="0"/>
          </a:p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96119" y="2468463"/>
            <a:ext cx="19457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6119" y="2723927"/>
            <a:ext cx="3954884" cy="1176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Holiday weeks show a measurable but moderate sales increase compared to regular weeks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Super Bowl, Labour Day, Thanksgiving, and Christmas are the four tracked holiday periods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peak most significantly around Thanksgiving and Christmas seasons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Non-holiday weeks make up the majority of annual revenue volume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vary in their response to holiday demand — urban stores see larger spikes</a:t>
            </a:r>
            <a:endParaRPr lang="en-US" sz="7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762" y="2494582"/>
            <a:ext cx="1931863" cy="2330635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951" y="2494583"/>
            <a:ext cx="1715616" cy="233063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97760" y="3843412"/>
            <a:ext cx="4412084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96119" y="4119042"/>
            <a:ext cx="860896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6834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099245"/>
            <a:ext cx="3937546" cy="1084659"/>
          </a:xfrm>
          <a:prstGeom prst="roundRect">
            <a:avLst>
              <a:gd name="adj" fmla="val 6323"/>
            </a:avLst>
          </a:prstGeom>
          <a:solidFill>
            <a:srgbClr val="00002E"/>
          </a:solidFill>
          <a:ln w="14288">
            <a:solidFill>
              <a:srgbClr val="383866"/>
            </a:solidFill>
            <a:prstDash val="solid"/>
          </a:ln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81831" y="1099245"/>
            <a:ext cx="57150" cy="1084659"/>
          </a:xfrm>
          <a:prstGeom prst="roundRect">
            <a:avLst>
              <a:gd name="adj" fmla="val 297674"/>
            </a:avLst>
          </a:prstGeom>
          <a:solidFill>
            <a:srgbClr val="F2B42D"/>
          </a:solidFill>
          <a:ln/>
        </p:spPr>
      </p:sp>
      <p:sp>
        <p:nvSpPr>
          <p:cNvPr id="5" name="Shape 3"/>
          <p:cNvSpPr/>
          <p:nvPr/>
        </p:nvSpPr>
        <p:spPr>
          <a:xfrm>
            <a:off x="666676" y="1226939"/>
            <a:ext cx="226442" cy="198611"/>
          </a:xfrm>
          <a:prstGeom prst="roundRect">
            <a:avLst>
              <a:gd name="adj" fmla="val 68524"/>
            </a:avLst>
          </a:prstGeom>
          <a:solidFill>
            <a:srgbClr val="483304"/>
          </a:solidFill>
          <a:ln/>
        </p:spPr>
      </p:sp>
      <p:sp>
        <p:nvSpPr>
          <p:cNvPr id="6" name="Text 4"/>
          <p:cNvSpPr/>
          <p:nvPr/>
        </p:nvSpPr>
        <p:spPr>
          <a:xfrm>
            <a:off x="734690" y="1260946"/>
            <a:ext cx="547613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66676" y="1461790"/>
            <a:ext cx="207302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Top-Performing Store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6676" y="1729680"/>
            <a:ext cx="3639294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 20 achieved the highest total sales, far surpassing average store performance over the analysis period.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6119" y="2274615"/>
            <a:ext cx="3937546" cy="1084659"/>
          </a:xfrm>
          <a:prstGeom prst="roundRect">
            <a:avLst>
              <a:gd name="adj" fmla="val 6323"/>
            </a:avLst>
          </a:prstGeom>
          <a:solidFill>
            <a:srgbClr val="00002E"/>
          </a:solidFill>
          <a:ln w="14288">
            <a:solidFill>
              <a:srgbClr val="383866"/>
            </a:solidFill>
            <a:prstDash val="solid"/>
          </a:ln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31" y="2274615"/>
            <a:ext cx="57150" cy="1084659"/>
          </a:xfrm>
          <a:prstGeom prst="roundRect">
            <a:avLst>
              <a:gd name="adj" fmla="val 297674"/>
            </a:avLst>
          </a:prstGeom>
          <a:solidFill>
            <a:srgbClr val="F2B42D"/>
          </a:solidFill>
          <a:ln/>
        </p:spPr>
      </p:sp>
      <p:sp>
        <p:nvSpPr>
          <p:cNvPr id="11" name="Shape 9"/>
          <p:cNvSpPr/>
          <p:nvPr/>
        </p:nvSpPr>
        <p:spPr>
          <a:xfrm>
            <a:off x="666676" y="2402309"/>
            <a:ext cx="249436" cy="198611"/>
          </a:xfrm>
          <a:prstGeom prst="roundRect">
            <a:avLst>
              <a:gd name="adj" fmla="val 68524"/>
            </a:avLst>
          </a:prstGeom>
          <a:solidFill>
            <a:srgbClr val="483304"/>
          </a:solidFill>
          <a:ln/>
        </p:spPr>
      </p:sp>
      <p:sp>
        <p:nvSpPr>
          <p:cNvPr id="12" name="Text 10"/>
          <p:cNvSpPr/>
          <p:nvPr/>
        </p:nvSpPr>
        <p:spPr>
          <a:xfrm>
            <a:off x="734690" y="2436316"/>
            <a:ext cx="570607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66676" y="2637160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Holiday Impact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6676" y="2905051"/>
            <a:ext cx="3639294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Holiday weeks generated a moderate uplift in sales (~7%), confirming seasonal demand spikes around key holidays.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6119" y="3449985"/>
            <a:ext cx="3937546" cy="1084659"/>
          </a:xfrm>
          <a:prstGeom prst="roundRect">
            <a:avLst>
              <a:gd name="adj" fmla="val 6323"/>
            </a:avLst>
          </a:prstGeom>
          <a:solidFill>
            <a:srgbClr val="00002E"/>
          </a:solidFill>
          <a:ln w="14288">
            <a:solidFill>
              <a:srgbClr val="383866"/>
            </a:solidFill>
            <a:prstDash val="solid"/>
          </a:ln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1831" y="3449985"/>
            <a:ext cx="57150" cy="1084659"/>
          </a:xfrm>
          <a:prstGeom prst="roundRect">
            <a:avLst>
              <a:gd name="adj" fmla="val 297674"/>
            </a:avLst>
          </a:prstGeom>
          <a:solidFill>
            <a:srgbClr val="F2B42D"/>
          </a:solidFill>
          <a:ln/>
        </p:spPr>
      </p:sp>
      <p:sp>
        <p:nvSpPr>
          <p:cNvPr id="17" name="Shape 15"/>
          <p:cNvSpPr/>
          <p:nvPr/>
        </p:nvSpPr>
        <p:spPr>
          <a:xfrm>
            <a:off x="666676" y="3577679"/>
            <a:ext cx="251743" cy="198611"/>
          </a:xfrm>
          <a:prstGeom prst="roundRect">
            <a:avLst>
              <a:gd name="adj" fmla="val 68524"/>
            </a:avLst>
          </a:prstGeom>
          <a:solidFill>
            <a:srgbClr val="483304"/>
          </a:solidFill>
          <a:ln/>
        </p:spPr>
      </p:sp>
      <p:sp>
        <p:nvSpPr>
          <p:cNvPr id="18" name="Text 16"/>
          <p:cNvSpPr/>
          <p:nvPr/>
        </p:nvSpPr>
        <p:spPr>
          <a:xfrm>
            <a:off x="734690" y="3611687"/>
            <a:ext cx="572914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66676" y="3812530"/>
            <a:ext cx="229827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External Factor Influence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6676" y="4080421"/>
            <a:ext cx="3639294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Temperature, fuel price, and unemployment showed weak-to-moderate correlations with sales, not strong predictors.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15098" y="1099245"/>
            <a:ext cx="3937546" cy="1084659"/>
          </a:xfrm>
          <a:prstGeom prst="roundRect">
            <a:avLst>
              <a:gd name="adj" fmla="val 6323"/>
            </a:avLst>
          </a:prstGeom>
          <a:solidFill>
            <a:srgbClr val="00002E"/>
          </a:solidFill>
          <a:ln w="14288">
            <a:solidFill>
              <a:srgbClr val="383866"/>
            </a:solidFill>
            <a:prstDash val="solid"/>
          </a:ln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0811" y="1099245"/>
            <a:ext cx="57150" cy="1084659"/>
          </a:xfrm>
          <a:prstGeom prst="roundRect">
            <a:avLst>
              <a:gd name="adj" fmla="val 297674"/>
            </a:avLst>
          </a:prstGeom>
          <a:solidFill>
            <a:srgbClr val="F2B42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85655" y="1226939"/>
            <a:ext cx="253157" cy="198611"/>
          </a:xfrm>
          <a:prstGeom prst="roundRect">
            <a:avLst>
              <a:gd name="adj" fmla="val 68524"/>
            </a:avLst>
          </a:prstGeom>
          <a:solidFill>
            <a:srgbClr val="483304"/>
          </a:solidFill>
          <a:ln/>
        </p:spPr>
      </p:sp>
      <p:sp>
        <p:nvSpPr>
          <p:cNvPr id="24" name="Text 22"/>
          <p:cNvSpPr/>
          <p:nvPr/>
        </p:nvSpPr>
        <p:spPr>
          <a:xfrm>
            <a:off x="4953670" y="1260946"/>
            <a:ext cx="574328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885655" y="1461790"/>
            <a:ext cx="2164705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Store Performance Gap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85655" y="1729680"/>
            <a:ext cx="3639294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Significant performance disparities exist between top and bottom-tier stores, signaling operational inefficiencies.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15098" y="2274615"/>
            <a:ext cx="3937546" cy="1084659"/>
          </a:xfrm>
          <a:prstGeom prst="roundRect">
            <a:avLst>
              <a:gd name="adj" fmla="val 6323"/>
            </a:avLst>
          </a:prstGeom>
          <a:solidFill>
            <a:srgbClr val="00002E"/>
          </a:solidFill>
          <a:ln w="14288">
            <a:solidFill>
              <a:srgbClr val="383866"/>
            </a:solidFill>
            <a:prstDash val="solid"/>
          </a:ln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0811" y="2274615"/>
            <a:ext cx="57150" cy="1084659"/>
          </a:xfrm>
          <a:prstGeom prst="roundRect">
            <a:avLst>
              <a:gd name="adj" fmla="val 297674"/>
            </a:avLst>
          </a:prstGeom>
          <a:solidFill>
            <a:srgbClr val="F2B42D"/>
          </a:solidFill>
          <a:ln/>
        </p:spPr>
      </p:sp>
      <p:sp>
        <p:nvSpPr>
          <p:cNvPr id="29" name="Shape 27"/>
          <p:cNvSpPr/>
          <p:nvPr/>
        </p:nvSpPr>
        <p:spPr>
          <a:xfrm>
            <a:off x="4885655" y="2402309"/>
            <a:ext cx="253454" cy="198611"/>
          </a:xfrm>
          <a:prstGeom prst="roundRect">
            <a:avLst>
              <a:gd name="adj" fmla="val 68524"/>
            </a:avLst>
          </a:prstGeom>
          <a:solidFill>
            <a:srgbClr val="483304"/>
          </a:solidFill>
          <a:ln/>
        </p:spPr>
      </p:sp>
      <p:sp>
        <p:nvSpPr>
          <p:cNvPr id="30" name="Text 28"/>
          <p:cNvSpPr/>
          <p:nvPr/>
        </p:nvSpPr>
        <p:spPr>
          <a:xfrm>
            <a:off x="4953670" y="2436316"/>
            <a:ext cx="574625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85655" y="2637160"/>
            <a:ext cx="1971675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Stable Growth Trend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85655" y="2905051"/>
            <a:ext cx="3639294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Overall Walmart sales showed consistent growth from 2010–2012, with a positive year-over-year trajectory.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15098" y="3449985"/>
            <a:ext cx="3937546" cy="1084659"/>
          </a:xfrm>
          <a:prstGeom prst="roundRect">
            <a:avLst>
              <a:gd name="adj" fmla="val 6323"/>
            </a:avLst>
          </a:prstGeom>
          <a:solidFill>
            <a:srgbClr val="00002E"/>
          </a:solidFill>
          <a:ln w="14288">
            <a:solidFill>
              <a:srgbClr val="383866"/>
            </a:solidFill>
            <a:prstDash val="solid"/>
          </a:ln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0811" y="3449985"/>
            <a:ext cx="57150" cy="1084659"/>
          </a:xfrm>
          <a:prstGeom prst="roundRect">
            <a:avLst>
              <a:gd name="adj" fmla="val 297674"/>
            </a:avLst>
          </a:prstGeom>
          <a:solidFill>
            <a:srgbClr val="F2B42D"/>
          </a:solidFill>
          <a:ln/>
        </p:spPr>
      </p:sp>
      <p:sp>
        <p:nvSpPr>
          <p:cNvPr id="35" name="Shape 33"/>
          <p:cNvSpPr/>
          <p:nvPr/>
        </p:nvSpPr>
        <p:spPr>
          <a:xfrm>
            <a:off x="4885655" y="3577679"/>
            <a:ext cx="255091" cy="198611"/>
          </a:xfrm>
          <a:prstGeom prst="roundRect">
            <a:avLst>
              <a:gd name="adj" fmla="val 68524"/>
            </a:avLst>
          </a:prstGeom>
          <a:solidFill>
            <a:srgbClr val="483304"/>
          </a:solidFill>
          <a:ln/>
        </p:spPr>
      </p:sp>
      <p:sp>
        <p:nvSpPr>
          <p:cNvPr id="36" name="Text 34"/>
          <p:cNvSpPr/>
          <p:nvPr/>
        </p:nvSpPr>
        <p:spPr>
          <a:xfrm>
            <a:off x="4953670" y="3611687"/>
            <a:ext cx="576263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885655" y="3812530"/>
            <a:ext cx="2523306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Unemployment </a:t>
            </a:r>
            <a:r>
              <a:rPr lang="en-US" sz="1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85655" y="4080421"/>
            <a:ext cx="3639294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Unemployment Index showed the strongest external correlation with sales.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2577"/>
            <a:ext cx="3940746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204987"/>
            <a:ext cx="3937546" cy="1479277"/>
          </a:xfrm>
          <a:prstGeom prst="roundRect">
            <a:avLst>
              <a:gd name="adj" fmla="val 11500"/>
            </a:avLst>
          </a:prstGeom>
          <a:solidFill>
            <a:srgbClr val="00002E"/>
          </a:solidFill>
          <a:ln w="14288">
            <a:solidFill>
              <a:srgbClr val="383866"/>
            </a:solidFill>
            <a:prstDash val="solid"/>
          </a:ln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10406" y="1219274"/>
            <a:ext cx="3908971" cy="340221"/>
          </a:xfrm>
          <a:prstGeom prst="roundRect">
            <a:avLst>
              <a:gd name="adj" fmla="val 44964"/>
            </a:avLst>
          </a:prstGeom>
          <a:solidFill>
            <a:srgbClr val="1F1F4D"/>
          </a:solidFill>
          <a:ln/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836" y="1301874"/>
            <a:ext cx="170111" cy="1701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3813" y="1650206"/>
            <a:ext cx="283033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Improve Low-Performing Stores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3813" y="1929408"/>
            <a:ext cx="349597" cy="198611"/>
          </a:xfrm>
          <a:prstGeom prst="roundRect">
            <a:avLst>
              <a:gd name="adj" fmla="val 68524"/>
            </a:avLst>
          </a:prstGeom>
          <a:solidFill>
            <a:srgbClr val="483304"/>
          </a:solidFill>
          <a:ln/>
        </p:spPr>
      </p:sp>
      <p:sp>
        <p:nvSpPr>
          <p:cNvPr id="8" name="Text 5"/>
          <p:cNvSpPr/>
          <p:nvPr/>
        </p:nvSpPr>
        <p:spPr>
          <a:xfrm>
            <a:off x="691828" y="1963415"/>
            <a:ext cx="670768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23813" y="2230041"/>
            <a:ext cx="3682157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Conduct targeted operational audits for bottom-tier stores. Invest in staff training, layout optimization, and localized marketing strategies.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96119" y="2786286"/>
            <a:ext cx="3937546" cy="1642542"/>
          </a:xfrm>
          <a:prstGeom prst="roundRect">
            <a:avLst>
              <a:gd name="adj" fmla="val 10357"/>
            </a:avLst>
          </a:prstGeom>
          <a:solidFill>
            <a:srgbClr val="00002E"/>
          </a:solidFill>
          <a:ln w="14288">
            <a:solidFill>
              <a:srgbClr val="383866"/>
            </a:solidFill>
            <a:prstDash val="solid"/>
          </a:ln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0406" y="2800573"/>
            <a:ext cx="3908971" cy="340221"/>
          </a:xfrm>
          <a:prstGeom prst="roundRect">
            <a:avLst>
              <a:gd name="adj" fmla="val 44964"/>
            </a:avLst>
          </a:prstGeom>
          <a:solidFill>
            <a:srgbClr val="1F1F4D"/>
          </a:solidFill>
          <a:ln/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9836" y="2883173"/>
            <a:ext cx="170111" cy="17011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3813" y="3231505"/>
            <a:ext cx="208359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Track Demand Trends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3813" y="3510707"/>
            <a:ext cx="482947" cy="198611"/>
          </a:xfrm>
          <a:prstGeom prst="roundRect">
            <a:avLst>
              <a:gd name="adj" fmla="val 68524"/>
            </a:avLst>
          </a:prstGeom>
          <a:solidFill>
            <a:srgbClr val="483304"/>
          </a:solidFill>
          <a:ln/>
        </p:spPr>
      </p:sp>
      <p:sp>
        <p:nvSpPr>
          <p:cNvPr id="15" name="Text 11"/>
          <p:cNvSpPr/>
          <p:nvPr/>
        </p:nvSpPr>
        <p:spPr>
          <a:xfrm>
            <a:off x="691828" y="3544714"/>
            <a:ext cx="804118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MEDIUM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623813" y="3811339"/>
            <a:ext cx="3682157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 continuous monitoring of weekly sales KPIs. Use forecasting models to anticipate demand fluctuations and optimize inventory.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715098" y="1204987"/>
            <a:ext cx="3937546" cy="1642542"/>
          </a:xfrm>
          <a:prstGeom prst="roundRect">
            <a:avLst>
              <a:gd name="adj" fmla="val 10357"/>
            </a:avLst>
          </a:prstGeom>
          <a:solidFill>
            <a:srgbClr val="00002E"/>
          </a:solidFill>
          <a:ln w="14288">
            <a:solidFill>
              <a:srgbClr val="383866"/>
            </a:solidFill>
            <a:prstDash val="solid"/>
          </a:ln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29386" y="1219274"/>
            <a:ext cx="3908971" cy="340221"/>
          </a:xfrm>
          <a:prstGeom prst="roundRect">
            <a:avLst>
              <a:gd name="adj" fmla="val 44964"/>
            </a:avLst>
          </a:prstGeom>
          <a:solidFill>
            <a:srgbClr val="1F1F4D"/>
          </a:solidFill>
          <a:ln/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816" y="1301874"/>
            <a:ext cx="170111" cy="17011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2793" y="1650206"/>
            <a:ext cx="2695426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Maximize Holiday Promotions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42793" y="1929408"/>
            <a:ext cx="349597" cy="198611"/>
          </a:xfrm>
          <a:prstGeom prst="roundRect">
            <a:avLst>
              <a:gd name="adj" fmla="val 68524"/>
            </a:avLst>
          </a:prstGeom>
          <a:solidFill>
            <a:srgbClr val="483304"/>
          </a:solidFill>
          <a:ln/>
        </p:spPr>
      </p:sp>
      <p:sp>
        <p:nvSpPr>
          <p:cNvPr id="22" name="Text 17"/>
          <p:cNvSpPr/>
          <p:nvPr/>
        </p:nvSpPr>
        <p:spPr>
          <a:xfrm>
            <a:off x="4910807" y="1963415"/>
            <a:ext cx="670768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4842793" y="2230041"/>
            <a:ext cx="3682157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 promotional budgets during Super Bowl, Thanksgiving, and Christmas. Deploy targeted campaigns to capitalize on elevated consumer intent.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715098" y="2949550"/>
            <a:ext cx="3937546" cy="1479277"/>
          </a:xfrm>
          <a:prstGeom prst="roundRect">
            <a:avLst>
              <a:gd name="adj" fmla="val 11500"/>
            </a:avLst>
          </a:prstGeom>
          <a:solidFill>
            <a:srgbClr val="00002E"/>
          </a:solidFill>
          <a:ln w="14288">
            <a:solidFill>
              <a:srgbClr val="383866"/>
            </a:solidFill>
            <a:prstDash val="solid"/>
          </a:ln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29386" y="2963838"/>
            <a:ext cx="3908971" cy="340221"/>
          </a:xfrm>
          <a:prstGeom prst="roundRect">
            <a:avLst>
              <a:gd name="adj" fmla="val 44964"/>
            </a:avLst>
          </a:prstGeom>
          <a:solidFill>
            <a:srgbClr val="1F1F4D"/>
          </a:solidFill>
          <a:ln/>
          <a:effectLst>
            <a:outerShdw dist="13970" dir="2700000" algn="bl" rotWithShape="0">
              <a:srgbClr val="383866">
                <a:alpha val="100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816" y="3046437"/>
            <a:ext cx="170111" cy="17011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842793" y="3394770"/>
            <a:ext cx="260888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Monitor Economic Indicators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842793" y="3673971"/>
            <a:ext cx="482947" cy="198611"/>
          </a:xfrm>
          <a:prstGeom prst="roundRect">
            <a:avLst>
              <a:gd name="adj" fmla="val 68524"/>
            </a:avLst>
          </a:prstGeom>
          <a:solidFill>
            <a:srgbClr val="483304"/>
          </a:solidFill>
          <a:ln/>
        </p:spPr>
      </p:sp>
      <p:sp>
        <p:nvSpPr>
          <p:cNvPr id="29" name="Text 23"/>
          <p:cNvSpPr/>
          <p:nvPr/>
        </p:nvSpPr>
        <p:spPr>
          <a:xfrm>
            <a:off x="4910807" y="3707978"/>
            <a:ext cx="804118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MEDIUM</a:t>
            </a:r>
            <a:endParaRPr lang="en-US" sz="700" dirty="0"/>
          </a:p>
        </p:txBody>
      </p:sp>
      <p:sp>
        <p:nvSpPr>
          <p:cNvPr id="30" name="Text 24"/>
          <p:cNvSpPr/>
          <p:nvPr/>
        </p:nvSpPr>
        <p:spPr>
          <a:xfrm>
            <a:off x="4842793" y="3974604"/>
            <a:ext cx="3682157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Regularly track CPI and unemployment trends at a regional level to adjust pricing strategies and promotional planning proactively.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985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16360"/>
            <a:ext cx="2622724" cy="2437284"/>
          </a:xfrm>
          <a:prstGeom prst="roundRect">
            <a:avLst>
              <a:gd name="adj" fmla="val 3752"/>
            </a:avLst>
          </a:prstGeom>
          <a:solidFill>
            <a:srgbClr val="00002E"/>
          </a:solidFill>
          <a:ln w="19050">
            <a:solidFill>
              <a:srgbClr val="383866"/>
            </a:solidFill>
            <a:prstDash val="solid"/>
          </a:ln>
          <a:effectLst>
            <a:outerShdw dist="1778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7069" y="1716360"/>
            <a:ext cx="76200" cy="2437284"/>
          </a:xfrm>
          <a:prstGeom prst="roundRect">
            <a:avLst>
              <a:gd name="adj" fmla="val 279070"/>
            </a:avLst>
          </a:prstGeom>
          <a:solidFill>
            <a:srgbClr val="F2B42D"/>
          </a:solidFill>
          <a:ln/>
        </p:spPr>
      </p:sp>
      <p:sp>
        <p:nvSpPr>
          <p:cNvPr id="5" name="Text 3"/>
          <p:cNvSpPr/>
          <p:nvPr/>
        </p:nvSpPr>
        <p:spPr>
          <a:xfrm>
            <a:off x="714077" y="1877169"/>
            <a:ext cx="25109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of Data Analysis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4077" y="2183681"/>
            <a:ext cx="224395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demonstrates how structured data analysis transforms raw transactional records into actionable business intelligence, enabling evidence-based decision-making at scale.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1716360"/>
            <a:ext cx="2622724" cy="2437284"/>
          </a:xfrm>
          <a:prstGeom prst="roundRect">
            <a:avLst>
              <a:gd name="adj" fmla="val 3752"/>
            </a:avLst>
          </a:prstGeom>
          <a:solidFill>
            <a:srgbClr val="00002E"/>
          </a:solidFill>
          <a:ln w="19050">
            <a:solidFill>
              <a:srgbClr val="383866"/>
            </a:solidFill>
            <a:prstDash val="solid"/>
          </a:ln>
          <a:effectLst>
            <a:outerShdw dist="1778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1551" y="1716360"/>
            <a:ext cx="76200" cy="2437284"/>
          </a:xfrm>
          <a:prstGeom prst="roundRect">
            <a:avLst>
              <a:gd name="adj" fmla="val 279070"/>
            </a:avLst>
          </a:prstGeom>
          <a:solidFill>
            <a:srgbClr val="F2B42D"/>
          </a:solidFill>
          <a:ln/>
        </p:spPr>
      </p:sp>
      <p:sp>
        <p:nvSpPr>
          <p:cNvPr id="9" name="Text 7"/>
          <p:cNvSpPr/>
          <p:nvPr/>
        </p:nvSpPr>
        <p:spPr>
          <a:xfrm>
            <a:off x="3478560" y="1877169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as a Business Tool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8560" y="2405137"/>
            <a:ext cx="22439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BI's interactive dashboards provided a dynamic, accessible platform for exploring Walmart's sales data — empowering stakeholders to filter, compare, and derive insights without technical expertise.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1716360"/>
            <a:ext cx="2622724" cy="2437284"/>
          </a:xfrm>
          <a:prstGeom prst="roundRect">
            <a:avLst>
              <a:gd name="adj" fmla="val 3752"/>
            </a:avLst>
          </a:prstGeom>
          <a:solidFill>
            <a:srgbClr val="00002E"/>
          </a:solidFill>
          <a:ln w="19050">
            <a:solidFill>
              <a:srgbClr val="383866"/>
            </a:solidFill>
            <a:prstDash val="solid"/>
          </a:ln>
          <a:effectLst>
            <a:outerShdw dist="17780" dir="2700000" algn="bl" rotWithShape="0">
              <a:srgbClr val="383866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06033" y="1716360"/>
            <a:ext cx="76200" cy="2437284"/>
          </a:xfrm>
          <a:prstGeom prst="roundRect">
            <a:avLst>
              <a:gd name="adj" fmla="val 279070"/>
            </a:avLst>
          </a:prstGeom>
          <a:solidFill>
            <a:srgbClr val="F2B42D"/>
          </a:solidFill>
          <a:ln/>
        </p:spPr>
      </p:sp>
      <p:sp>
        <p:nvSpPr>
          <p:cNvPr id="13" name="Text 11"/>
          <p:cNvSpPr/>
          <p:nvPr/>
        </p:nvSpPr>
        <p:spPr>
          <a:xfrm>
            <a:off x="6243042" y="1877169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Value of Dashboard Reporting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43042" y="2405137"/>
            <a:ext cx="224395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Centralizing KPIs in a single dashboard ensures consistent reporting, reduces analytical silos, and accelerates strategic response to market changes across the entire store network.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501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470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Questions?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6119" y="1889447"/>
            <a:ext cx="3902943" cy="116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Feel free to reach out or discuss any aspect of this analysis.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Analysis Graduate Project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Tools: Power BI | Power Query | Excel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822722"/>
            <a:ext cx="3498056" cy="34980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1020</Words>
  <Application>Microsoft Office PowerPoint</Application>
  <PresentationFormat>On-screen Show (16:9)</PresentationFormat>
  <Paragraphs>174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Libre Baskerville Light</vt:lpstr>
      <vt:lpstr>Arial</vt:lpstr>
      <vt:lpstr>Libre Baskerville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Kerlous Marzouk Rady Farid</cp:lastModifiedBy>
  <cp:revision>2</cp:revision>
  <dcterms:created xsi:type="dcterms:W3CDTF">2026-05-20T12:14:12Z</dcterms:created>
  <dcterms:modified xsi:type="dcterms:W3CDTF">2026-05-20T12:18:53Z</dcterms:modified>
</cp:coreProperties>
</file>